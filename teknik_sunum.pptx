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371600"/>
            <a:ext cx="4572000" cy="45720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457200"/>
            <a:ext cx="2743200" cy="2743200"/>
          </a:xfrm>
          <a:prstGeom prst="ellipse">
            <a:avLst/>
          </a:prstGeom>
          <a:solidFill>
            <a:srgbClr val="2563A8">
              <a:alpha val="40000"/>
            </a:srgbClr>
          </a:solidFill>
          <a:ln w="12700">
            <a:solidFill>
              <a:srgbClr val="2563A8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914400"/>
            <a:ext cx="1463040" cy="1463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84048" y="1097280"/>
            <a:ext cx="2377440" cy="292608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10972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</a:rPr>
              <a:t>TEKNİK ALTYAPI &amp; GEREKSİNİMLER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84048" y="1508760"/>
            <a:ext cx="6400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Okul Kütüphanesi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Dijital Yönetim Sistemi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384048" y="31546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BAFD4"/>
                </a:solidFill>
              </a:rPr>
              <a:t>Ücretsiz · Mobil Uyumlu · GitHub Pages + JSON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84048" y="4645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7BAFD4"/>
                </a:solidFill>
              </a:rPr>
              <a:t>Mart 2026  ·  PWA Web Uygulaması  ·  Sıfır Maliyet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Sistem Nasıl Çalışır?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777240"/>
            <a:ext cx="64008" cy="1115568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914400"/>
            <a:ext cx="640080" cy="640080"/>
          </a:xfrm>
          <a:prstGeom prst="ellipse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96012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98448" y="868680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A8"/>
                </a:solidFill>
              </a:rPr>
              <a:t>1. Katman — Kullanıcı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298448" y="119786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E52"/>
                </a:solidFill>
              </a:rPr>
              <a:t>· Telefon, tablet, bilgisayar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298448" y="147218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E52"/>
                </a:solidFill>
              </a:rPr>
              <a:t>· Tarayıcıda açılır — uygulama yok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937760" y="119786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E52"/>
                </a:solidFill>
              </a:rPr>
              <a:t>· Ana ekrana eklenince uygulama gibi davranır (PWA)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937760" y="147218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E52"/>
                </a:solidFill>
              </a:rPr>
              <a:t>· Barkod okuyucu bilgisayara USB ile bağlanır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65760" y="2057400"/>
            <a:ext cx="84124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65760" y="2057400"/>
            <a:ext cx="64008" cy="1115568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2194560"/>
            <a:ext cx="640080" cy="640080"/>
          </a:xfrm>
          <a:prstGeom prst="ellipse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40280"/>
            <a:ext cx="502920" cy="5029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298448" y="2148840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C4"/>
                </a:solidFill>
              </a:rPr>
              <a:t>2. Katman — Uygulama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298448" y="247802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E52"/>
                </a:solidFill>
              </a:rPr>
              <a:t>· HTML + CSS + JavaScript ile yazıldı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1298448" y="275234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E52"/>
                </a:solidFill>
              </a:rPr>
              <a:t>· Google Books API → kitap kapağı, özet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4937760" y="247802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E52"/>
                </a:solidFill>
              </a:rPr>
              <a:t>· Tarayıcıda çalışır, sunucu gerektirmez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4937760" y="275234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E52"/>
                </a:solidFill>
              </a:rPr>
              <a:t>· Her cihazda aynı görünüm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365760" y="3337560"/>
            <a:ext cx="84124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365760" y="3337560"/>
            <a:ext cx="64008" cy="1115568"/>
          </a:xfrm>
          <a:prstGeom prst="rect">
            <a:avLst/>
          </a:prstGeom>
          <a:solidFill>
            <a:srgbClr val="1D7A4A"/>
          </a:solidFill>
          <a:ln w="12700">
            <a:solidFill>
              <a:srgbClr val="1D7A4A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502920" y="3474720"/>
            <a:ext cx="640080" cy="640080"/>
          </a:xfrm>
          <a:prstGeom prst="ellipse">
            <a:avLst/>
          </a:prstGeom>
          <a:solidFill>
            <a:srgbClr val="1D7A4A"/>
          </a:solidFill>
          <a:ln w="12700">
            <a:solidFill>
              <a:srgbClr val="1D7A4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520440"/>
            <a:ext cx="502920" cy="50292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298448" y="3429000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7A4A"/>
                </a:solidFill>
              </a:rPr>
              <a:t>3. Katman — Veri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1298448" y="375818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E52"/>
                </a:solidFill>
              </a:rPr>
              <a:t>· GitHub'da JSON dosyası → ücretsiz depolama</a:t>
            </a:r>
            <a:endParaRPr lang="en-US" sz="1150" dirty="0"/>
          </a:p>
        </p:txBody>
      </p:sp>
      <p:sp>
        <p:nvSpPr>
          <p:cNvPr id="28" name="Text 23"/>
          <p:cNvSpPr/>
          <p:nvPr/>
        </p:nvSpPr>
        <p:spPr>
          <a:xfrm>
            <a:off x="1298448" y="403250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E52"/>
                </a:solidFill>
              </a:rPr>
              <a:t>· LocalStorage → internet yoksa tampon bellek</a:t>
            </a:r>
            <a:endParaRPr lang="en-US" sz="1150" dirty="0"/>
          </a:p>
        </p:txBody>
      </p:sp>
      <p:sp>
        <p:nvSpPr>
          <p:cNvPr id="29" name="Text 24"/>
          <p:cNvSpPr/>
          <p:nvPr/>
        </p:nvSpPr>
        <p:spPr>
          <a:xfrm>
            <a:off x="4937760" y="375818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E52"/>
                </a:solidFill>
              </a:rPr>
              <a:t>· Yıl sonu: dosya arşivlenir, yeni dönem başlar</a:t>
            </a:r>
            <a:endParaRPr lang="en-US" sz="1150" dirty="0"/>
          </a:p>
        </p:txBody>
      </p:sp>
      <p:sp>
        <p:nvSpPr>
          <p:cNvPr id="30" name="Text 25"/>
          <p:cNvSpPr/>
          <p:nvPr/>
        </p:nvSpPr>
        <p:spPr>
          <a:xfrm>
            <a:off x="4937760" y="403250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E52"/>
                </a:solidFill>
              </a:rPr>
              <a:t>· github.com/hesabiniz/kutuphane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Kullanılan Teknolojiler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BAFD4"/>
                </a:solidFill>
              </a:rPr>
              <a:t>Hepsi ücretsiz · Ekstra kurulum gerektirmiyor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92608" y="1078992"/>
            <a:ext cx="2743200" cy="1627632"/>
          </a:xfrm>
          <a:prstGeom prst="rect">
            <a:avLst/>
          </a:prstGeom>
          <a:solidFill>
            <a:srgbClr val="243552"/>
          </a:solidFill>
          <a:ln w="12700">
            <a:solidFill>
              <a:srgbClr val="2E4A7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1078992"/>
            <a:ext cx="64008" cy="1627632"/>
          </a:xfrm>
          <a:prstGeom prst="rect">
            <a:avLst/>
          </a:prstGeom>
          <a:solidFill>
            <a:srgbClr val="E34F26"/>
          </a:solidFill>
          <a:ln w="12700">
            <a:solidFill>
              <a:srgbClr val="E34F2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61872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42416" y="124358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HTML5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1828800"/>
            <a:ext cx="24871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B5D4"/>
                </a:solidFill>
              </a:rPr>
              <a:t>Sayfanın iskeleti. Formlar, tablolar, butonlar.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182112" y="1078992"/>
            <a:ext cx="2743200" cy="1627632"/>
          </a:xfrm>
          <a:prstGeom prst="rect">
            <a:avLst/>
          </a:prstGeom>
          <a:solidFill>
            <a:srgbClr val="243552"/>
          </a:solidFill>
          <a:ln w="12700">
            <a:solidFill>
              <a:srgbClr val="2E4A7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182112" y="1078992"/>
            <a:ext cx="64008" cy="1627632"/>
          </a:xfrm>
          <a:prstGeom prst="rect">
            <a:avLst/>
          </a:prstGeom>
          <a:solidFill>
            <a:srgbClr val="1572B6"/>
          </a:solidFill>
          <a:ln w="12700">
            <a:solidFill>
              <a:srgbClr val="1572B6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6704" y="1261872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31920" y="124358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CSS3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346704" y="1828800"/>
            <a:ext cx="24871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B5D4"/>
                </a:solidFill>
              </a:rPr>
              <a:t>Görünüm. Mobil uyumluluk, renkler, düzen.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071616" y="1078992"/>
            <a:ext cx="2743200" cy="1627632"/>
          </a:xfrm>
          <a:prstGeom prst="rect">
            <a:avLst/>
          </a:prstGeom>
          <a:solidFill>
            <a:srgbClr val="243552"/>
          </a:solidFill>
          <a:ln w="12700">
            <a:solidFill>
              <a:srgbClr val="2E4A7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071616" y="1078992"/>
            <a:ext cx="64008" cy="1627632"/>
          </a:xfrm>
          <a:prstGeom prst="rect">
            <a:avLst/>
          </a:prstGeom>
          <a:solidFill>
            <a:srgbClr val="C17B2A"/>
          </a:solidFill>
          <a:ln w="12700">
            <a:solidFill>
              <a:srgbClr val="C17B2A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1261872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821424" y="124358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JavaScript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236208" y="1828800"/>
            <a:ext cx="24871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B5D4"/>
                </a:solidFill>
              </a:rPr>
              <a:t>Tüm mantık. Ödünç, istatistik, arama.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292608" y="2889504"/>
            <a:ext cx="2743200" cy="1627632"/>
          </a:xfrm>
          <a:prstGeom prst="rect">
            <a:avLst/>
          </a:prstGeom>
          <a:solidFill>
            <a:srgbClr val="243552"/>
          </a:solidFill>
          <a:ln w="12700">
            <a:solidFill>
              <a:srgbClr val="2E4A7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292608" y="2889504"/>
            <a:ext cx="64008" cy="1627632"/>
          </a:xfrm>
          <a:prstGeom prst="rect">
            <a:avLst/>
          </a:prstGeom>
          <a:solidFill>
            <a:srgbClr val="1D7A4A"/>
          </a:solidFill>
          <a:ln w="12700">
            <a:solidFill>
              <a:srgbClr val="1D7A4A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072384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42416" y="305409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PWA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457200" y="3639312"/>
            <a:ext cx="24871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B5D4"/>
                </a:solidFill>
              </a:rPr>
              <a:t>Ana ekrana ekle. Uygulama gibi açılır.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3182112" y="2889504"/>
            <a:ext cx="2743200" cy="1627632"/>
          </a:xfrm>
          <a:prstGeom prst="rect">
            <a:avLst/>
          </a:prstGeom>
          <a:solidFill>
            <a:srgbClr val="243552"/>
          </a:solidFill>
          <a:ln w="12700">
            <a:solidFill>
              <a:srgbClr val="2E4A7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182112" y="2889504"/>
            <a:ext cx="64008" cy="1627632"/>
          </a:xfrm>
          <a:prstGeom prst="rect">
            <a:avLst/>
          </a:prstGeom>
          <a:solidFill>
            <a:srgbClr val="8B8FA8"/>
          </a:solidFill>
          <a:ln w="12700">
            <a:solidFill>
              <a:srgbClr val="8B8FA8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6704" y="3072384"/>
            <a:ext cx="457200" cy="4572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931920" y="305409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GitHub Pages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3346704" y="3639312"/>
            <a:ext cx="24871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B5D4"/>
                </a:solidFill>
              </a:rPr>
              <a:t>Ücretsiz yayın. isim.github.io/kutuphane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6071616" y="2889504"/>
            <a:ext cx="2743200" cy="1627632"/>
          </a:xfrm>
          <a:prstGeom prst="rect">
            <a:avLst/>
          </a:prstGeom>
          <a:solidFill>
            <a:srgbClr val="243552"/>
          </a:solidFill>
          <a:ln w="12700">
            <a:solidFill>
              <a:srgbClr val="2E4A7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071616" y="2889504"/>
            <a:ext cx="64008" cy="1627632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6208" y="3072384"/>
            <a:ext cx="457200" cy="45720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821424" y="305409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Google Books</a:t>
            </a:r>
            <a:endParaRPr lang="en-US" sz="1500" dirty="0"/>
          </a:p>
        </p:txBody>
      </p:sp>
      <p:sp>
        <p:nvSpPr>
          <p:cNvPr id="34" name="Text 26"/>
          <p:cNvSpPr/>
          <p:nvPr/>
        </p:nvSpPr>
        <p:spPr>
          <a:xfrm>
            <a:off x="6236208" y="3639312"/>
            <a:ext cx="24871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B5D4"/>
                </a:solidFill>
              </a:rPr>
              <a:t>ISBN → kapak, yazar, özet otomatik gelir.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 Gerekiyor?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3931920" cy="3950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04672"/>
            <a:ext cx="3931920" cy="420624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804672"/>
            <a:ext cx="37124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Yazılım — Tamamen Ücretsiz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30352" y="1426464"/>
            <a:ext cx="256032" cy="256032"/>
          </a:xfrm>
          <a:prstGeom prst="ellipse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42646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0" y="135331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35"/>
                </a:solidFill>
              </a:rPr>
              <a:t>GitHub hesabı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609344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E52"/>
                </a:solidFill>
              </a:rPr>
              <a:t>Mevcut hesabınız yeterli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0352" y="2121408"/>
            <a:ext cx="256032" cy="256032"/>
          </a:xfrm>
          <a:prstGeom prst="ellipse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21214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0" y="2048256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35"/>
                </a:solidFill>
              </a:rPr>
              <a:t>GitHub Pages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30428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E52"/>
                </a:solidFill>
              </a:rPr>
              <a:t>Ücretsiz web yayını — otomatik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0352" y="2816352"/>
            <a:ext cx="256032" cy="256032"/>
          </a:xfrm>
          <a:prstGeom prst="ellipse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28163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14400" y="274320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35"/>
                </a:solidFill>
              </a:rPr>
              <a:t>Google Books API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299923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E52"/>
                </a:solidFill>
              </a:rPr>
              <a:t>Günde 1000 sorgu ücretsiz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30352" y="3511296"/>
            <a:ext cx="256032" cy="256032"/>
          </a:xfrm>
          <a:prstGeom prst="ellipse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351129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14400" y="3438144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35"/>
                </a:solidFill>
              </a:rPr>
              <a:t>Google API Anahtarı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3694176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E52"/>
                </a:solidFill>
              </a:rPr>
              <a:t>Birlikte alırız, 10 dk. sürer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804672"/>
            <a:ext cx="3931920" cy="3950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804672"/>
            <a:ext cx="3931920" cy="420624"/>
          </a:xfrm>
          <a:prstGeom prst="rect">
            <a:avLst/>
          </a:prstGeom>
          <a:solidFill>
            <a:srgbClr val="C17B2A"/>
          </a:solidFill>
          <a:ln w="12700">
            <a:solidFill>
              <a:srgbClr val="C17B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56048" y="804672"/>
            <a:ext cx="37124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Donanım — Tek Seferlik Alım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10912" y="1389888"/>
            <a:ext cx="749808" cy="292608"/>
          </a:xfrm>
          <a:prstGeom prst="rect">
            <a:avLst/>
          </a:prstGeom>
          <a:solidFill>
            <a:srgbClr val="FDF3E3"/>
          </a:solidFill>
          <a:ln w="12700">
            <a:solidFill>
              <a:srgbClr val="F0D9A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10912" y="1389888"/>
            <a:ext cx="749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17B2A"/>
                </a:solidFill>
              </a:rPr>
              <a:t>300–600 ₺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888736" y="135331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35"/>
                </a:solidFill>
              </a:rPr>
              <a:t>USB Barkod Okuyucu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888736" y="160934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E52"/>
                </a:solidFill>
              </a:rPr>
              <a:t>Honeywell, Netum — marka fark etmez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10912" y="2084832"/>
            <a:ext cx="749808" cy="292608"/>
          </a:xfrm>
          <a:prstGeom prst="rect">
            <a:avLst/>
          </a:prstGeom>
          <a:solidFill>
            <a:srgbClr val="EAF5EF"/>
          </a:solidFill>
          <a:ln w="12700">
            <a:solidFill>
              <a:srgbClr val="C4E0C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10912" y="2084832"/>
            <a:ext cx="749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7A4A"/>
                </a:solidFill>
              </a:rPr>
              <a:t>Mevcut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888736" y="204825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35"/>
                </a:solidFill>
              </a:rPr>
              <a:t>Bilgisayar/Tablet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888736" y="230428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E52"/>
                </a:solidFill>
              </a:rPr>
              <a:t>En eski cihaz bile çalışır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10912" y="2779776"/>
            <a:ext cx="749808" cy="292608"/>
          </a:xfrm>
          <a:prstGeom prst="rect">
            <a:avLst/>
          </a:prstGeom>
          <a:solidFill>
            <a:srgbClr val="EAF5EF"/>
          </a:solidFill>
          <a:ln w="12700">
            <a:solidFill>
              <a:srgbClr val="C4E0C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10912" y="2779776"/>
            <a:ext cx="749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7A4A"/>
                </a:solidFill>
              </a:rPr>
              <a:t>Mevcut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888736" y="274320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35"/>
                </a:solidFill>
              </a:rPr>
              <a:t>İnternet bağlantısı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888736" y="299923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E52"/>
                </a:solidFill>
              </a:rPr>
              <a:t>Okulda zaten var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010912" y="3474720"/>
            <a:ext cx="749808" cy="292608"/>
          </a:xfrm>
          <a:prstGeom prst="rect">
            <a:avLst/>
          </a:prstGeom>
          <a:solidFill>
            <a:srgbClr val="F0EBE3"/>
          </a:solidFill>
          <a:ln w="12700">
            <a:solidFill>
              <a:srgbClr val="DDD5C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10912" y="3474720"/>
            <a:ext cx="749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5E52"/>
                </a:solidFill>
              </a:rPr>
              <a:t>İsteğe bağlı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888736" y="343814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35"/>
                </a:solidFill>
              </a:rPr>
              <a:t>Etiket yazıcı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888736" y="369417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E52"/>
                </a:solidFill>
              </a:rPr>
              <a:t>Barkodu olmayan kitaplar için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Veriler Nerede Saklanıyor?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BAFD4"/>
                </a:solidFill>
              </a:rPr>
              <a:t>GitHub + JSON + Yıllık Arşiv Sistemi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920240" cy="1005840"/>
          </a:xfrm>
          <a:prstGeom prst="rect">
            <a:avLst/>
          </a:prstGeom>
          <a:solidFill>
            <a:srgbClr val="2E4A72"/>
          </a:solidFill>
          <a:ln w="12700">
            <a:solidFill>
              <a:srgbClr val="2E4A7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17043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8992" y="1152144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LocalStorage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78992" y="146304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B5D4"/>
                </a:solidFill>
              </a:rPr>
              <a:t>Anlık tampon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395728" y="1600200"/>
            <a:ext cx="182880" cy="0"/>
          </a:xfrm>
          <a:prstGeom prst="line">
            <a:avLst/>
          </a:prstGeom>
          <a:noFill/>
          <a:ln w="19050">
            <a:solidFill>
              <a:srgbClr val="4A608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377440" y="1481328"/>
            <a:ext cx="219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606040" y="1097280"/>
            <a:ext cx="1920240" cy="1005840"/>
          </a:xfrm>
          <a:prstGeom prst="rect">
            <a:avLst/>
          </a:prstGeom>
          <a:solidFill>
            <a:srgbClr val="1D7A4A"/>
          </a:solidFill>
          <a:ln w="12700">
            <a:solidFill>
              <a:srgbClr val="1D7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0632" y="1170432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27832" y="1152144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GitHub API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227832" y="146304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B5D4"/>
                </a:solidFill>
              </a:rPr>
              <a:t>Bulut yazma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544568" y="1600200"/>
            <a:ext cx="182880" cy="0"/>
          </a:xfrm>
          <a:prstGeom prst="line">
            <a:avLst/>
          </a:prstGeom>
          <a:noFill/>
          <a:ln w="19050">
            <a:solidFill>
              <a:srgbClr val="4A608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526280" y="1481328"/>
            <a:ext cx="219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4754880" y="1097280"/>
            <a:ext cx="1920240" cy="1005840"/>
          </a:xfrm>
          <a:prstGeom prst="rect">
            <a:avLst/>
          </a:prstGeom>
          <a:solidFill>
            <a:srgbClr val="1E4A7A"/>
          </a:solidFill>
          <a:ln w="12700">
            <a:solidFill>
              <a:srgbClr val="1E4A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472" y="1170432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376672" y="1152144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2025-26.json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5376672" y="146304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B5D4"/>
                </a:solidFill>
              </a:rPr>
              <a:t>Aktif dönem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6693408" y="1600200"/>
            <a:ext cx="182880" cy="0"/>
          </a:xfrm>
          <a:prstGeom prst="line">
            <a:avLst/>
          </a:prstGeom>
          <a:noFill/>
          <a:ln w="19050">
            <a:solidFill>
              <a:srgbClr val="4A6080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675120" y="1481328"/>
            <a:ext cx="219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</a:rPr>
              <a:t>→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6903720" y="1097280"/>
            <a:ext cx="1920240" cy="1005840"/>
          </a:xfrm>
          <a:prstGeom prst="rect">
            <a:avLst/>
          </a:prstGeom>
          <a:solidFill>
            <a:srgbClr val="4A3520"/>
          </a:solidFill>
          <a:ln w="12700">
            <a:solidFill>
              <a:srgbClr val="4A35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8312" y="1170432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525512" y="1152144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Arşiv.json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7525512" y="146304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B5D4"/>
                </a:solidFill>
              </a:rPr>
              <a:t>Geçmiş yıllar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365760" y="2377440"/>
            <a:ext cx="8412480" cy="2395728"/>
          </a:xfrm>
          <a:prstGeom prst="rect">
            <a:avLst/>
          </a:prstGeom>
          <a:solidFill>
            <a:srgbClr val="1A2535"/>
          </a:solidFill>
          <a:ln w="12700">
            <a:solidFill>
              <a:srgbClr val="2E4A7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365760" y="2377440"/>
            <a:ext cx="841248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502920" y="23774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AFD4"/>
                </a:solidFill>
              </a:rPr>
              <a:t>Yıllık Döngü — Eylül'de tek tıkla sıfırlama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658368" y="2907792"/>
            <a:ext cx="365760" cy="365760"/>
          </a:xfrm>
          <a:prstGeom prst="ellipse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658368" y="29077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566928" y="33375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AFD4"/>
                </a:solidFill>
              </a:rPr>
              <a:t>Haziran sonu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566928" y="3621024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B5D4"/>
                </a:solidFill>
              </a:rPr>
              <a:t>Aktif JSON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BB5D4"/>
                </a:solidFill>
              </a:rPr>
              <a:t>otomatik arşivlenir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2761488" y="2907792"/>
            <a:ext cx="365760" cy="365760"/>
          </a:xfrm>
          <a:prstGeom prst="ellipse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2761488" y="29077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36" name="Text 30"/>
          <p:cNvSpPr/>
          <p:nvPr/>
        </p:nvSpPr>
        <p:spPr>
          <a:xfrm>
            <a:off x="2670048" y="33375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AFD4"/>
                </a:solidFill>
              </a:rPr>
              <a:t>Eylül başı</a:t>
            </a:r>
            <a:endParaRPr lang="en-US" sz="1100" dirty="0"/>
          </a:p>
        </p:txBody>
      </p:sp>
      <p:sp>
        <p:nvSpPr>
          <p:cNvPr id="37" name="Text 31"/>
          <p:cNvSpPr/>
          <p:nvPr/>
        </p:nvSpPr>
        <p:spPr>
          <a:xfrm>
            <a:off x="2670048" y="3621024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B5D4"/>
                </a:solidFill>
              </a:rPr>
              <a:t>Yeni boş JSON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BB5D4"/>
                </a:solidFill>
              </a:rPr>
              <a:t>otomatik oluşur</a:t>
            </a:r>
            <a:endParaRPr lang="en-US" sz="1050" dirty="0"/>
          </a:p>
        </p:txBody>
      </p:sp>
      <p:sp>
        <p:nvSpPr>
          <p:cNvPr id="38" name="Shape 32"/>
          <p:cNvSpPr/>
          <p:nvPr/>
        </p:nvSpPr>
        <p:spPr>
          <a:xfrm>
            <a:off x="4864608" y="2907792"/>
            <a:ext cx="365760" cy="365760"/>
          </a:xfrm>
          <a:prstGeom prst="ellipse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4864608" y="29077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40" name="Text 34"/>
          <p:cNvSpPr/>
          <p:nvPr/>
        </p:nvSpPr>
        <p:spPr>
          <a:xfrm>
            <a:off x="4773168" y="33375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AFD4"/>
                </a:solidFill>
              </a:rPr>
              <a:t>Tüm yıl boyunca</a:t>
            </a:r>
            <a:endParaRPr lang="en-US" sz="1100" dirty="0"/>
          </a:p>
        </p:txBody>
      </p:sp>
      <p:sp>
        <p:nvSpPr>
          <p:cNvPr id="41" name="Text 35"/>
          <p:cNvSpPr/>
          <p:nvPr/>
        </p:nvSpPr>
        <p:spPr>
          <a:xfrm>
            <a:off x="4773168" y="3621024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B5D4"/>
                </a:solidFill>
              </a:rPr>
              <a:t>Arşiv sekmesinden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BB5D4"/>
                </a:solidFill>
              </a:rPr>
              <a:t>eski yıla erişilir</a:t>
            </a:r>
            <a:endParaRPr lang="en-US" sz="1050" dirty="0"/>
          </a:p>
        </p:txBody>
      </p:sp>
      <p:sp>
        <p:nvSpPr>
          <p:cNvPr id="42" name="Shape 36"/>
          <p:cNvSpPr/>
          <p:nvPr/>
        </p:nvSpPr>
        <p:spPr>
          <a:xfrm>
            <a:off x="6967728" y="2907792"/>
            <a:ext cx="365760" cy="365760"/>
          </a:xfrm>
          <a:prstGeom prst="ellipse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6967728" y="29077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4" name="Text 38"/>
          <p:cNvSpPr/>
          <p:nvPr/>
        </p:nvSpPr>
        <p:spPr>
          <a:xfrm>
            <a:off x="6876288" y="33375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AFD4"/>
                </a:solidFill>
              </a:rPr>
              <a:t>Her zaman</a:t>
            </a:r>
            <a:endParaRPr lang="en-US" sz="1100" dirty="0"/>
          </a:p>
        </p:txBody>
      </p:sp>
      <p:sp>
        <p:nvSpPr>
          <p:cNvPr id="45" name="Text 39"/>
          <p:cNvSpPr/>
          <p:nvPr/>
        </p:nvSpPr>
        <p:spPr>
          <a:xfrm>
            <a:off x="6876288" y="3621024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B5D4"/>
                </a:solidFill>
              </a:rPr>
              <a:t>Hiçbir veri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BB5D4"/>
                </a:solidFill>
              </a:rPr>
              <a:t>silinmez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Barkod Okuyucu Nasıl Çalışır?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960120"/>
            <a:ext cx="822960" cy="822960"/>
          </a:xfrm>
          <a:prstGeom prst="ellipse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005840"/>
            <a:ext cx="658368" cy="658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84048" y="190195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535"/>
                </a:solidFill>
              </a:rPr>
              <a:t>Barkod Oku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384048" y="21945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5E52"/>
                </a:solidFill>
              </a:rPr>
              <a:t>Kitabın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E52"/>
                </a:solidFill>
              </a:rPr>
              <a:t>arkasındaki barkod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1773936" y="1371600"/>
            <a:ext cx="292608" cy="0"/>
          </a:xfrm>
          <a:prstGeom prst="line">
            <a:avLst/>
          </a:prstGeom>
          <a:noFill/>
          <a:ln w="19050">
            <a:solidFill>
              <a:srgbClr val="DDD5C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755648" y="1234440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DD5C4"/>
                </a:solidFill>
              </a:rPr>
              <a:t>›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377440" y="960120"/>
            <a:ext cx="822960" cy="822960"/>
          </a:xfrm>
          <a:prstGeom prst="ellipse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1005840"/>
            <a:ext cx="658368" cy="6583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103120" y="190195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535"/>
                </a:solidFill>
              </a:rPr>
              <a:t>USB Sinyal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2103120" y="21945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5E52"/>
                </a:solidFill>
              </a:rPr>
              <a:t>Klavye gibi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E52"/>
                </a:solidFill>
              </a:rPr>
              <a:t>yazı girer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493008" y="1371600"/>
            <a:ext cx="292608" cy="0"/>
          </a:xfrm>
          <a:prstGeom prst="line">
            <a:avLst/>
          </a:prstGeom>
          <a:noFill/>
          <a:ln w="19050">
            <a:solidFill>
              <a:srgbClr val="DDD5C4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474720" y="1234440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DD5C4"/>
                </a:solidFill>
              </a:rPr>
              <a:t>›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4096512" y="960120"/>
            <a:ext cx="822960" cy="822960"/>
          </a:xfrm>
          <a:prstGeom prst="ellipse">
            <a:avLst/>
          </a:prstGeom>
          <a:solidFill>
            <a:srgbClr val="1D7A4A"/>
          </a:solidFill>
          <a:ln w="12700">
            <a:solidFill>
              <a:srgbClr val="1D7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2232" y="1005840"/>
            <a:ext cx="658368" cy="65836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822192" y="190195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535"/>
                </a:solidFill>
              </a:rPr>
              <a:t>Tarayıcı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3822192" y="21945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5E52"/>
                </a:solidFill>
              </a:rPr>
              <a:t>ISBN alanına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E52"/>
                </a:solidFill>
              </a:rPr>
              <a:t>otomatik yapışır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212080" y="1371600"/>
            <a:ext cx="292608" cy="0"/>
          </a:xfrm>
          <a:prstGeom prst="line">
            <a:avLst/>
          </a:prstGeom>
          <a:noFill/>
          <a:ln w="19050">
            <a:solidFill>
              <a:srgbClr val="DDD5C4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193792" y="1234440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DD5C4"/>
                </a:solidFill>
              </a:rPr>
              <a:t>›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5815584" y="960120"/>
            <a:ext cx="822960" cy="822960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1304" y="1005840"/>
            <a:ext cx="658368" cy="65836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541264" y="190195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535"/>
                </a:solidFill>
              </a:rPr>
              <a:t>Google Books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5541264" y="21945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5E52"/>
                </a:solidFill>
              </a:rPr>
              <a:t>Kitap bilgisi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E52"/>
                </a:solidFill>
              </a:rPr>
              <a:t>ve kapak gelir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6931152" y="1371600"/>
            <a:ext cx="292608" cy="0"/>
          </a:xfrm>
          <a:prstGeom prst="line">
            <a:avLst/>
          </a:prstGeom>
          <a:noFill/>
          <a:ln w="19050">
            <a:solidFill>
              <a:srgbClr val="DDD5C4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6912864" y="1234440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DD5C4"/>
                </a:solidFill>
              </a:rPr>
              <a:t>›</a:t>
            </a:r>
            <a:endParaRPr lang="en-US" sz="1600" dirty="0"/>
          </a:p>
        </p:txBody>
      </p:sp>
      <p:sp>
        <p:nvSpPr>
          <p:cNvPr id="28" name="Shape 22"/>
          <p:cNvSpPr/>
          <p:nvPr/>
        </p:nvSpPr>
        <p:spPr>
          <a:xfrm>
            <a:off x="7534656" y="960120"/>
            <a:ext cx="822960" cy="822960"/>
          </a:xfrm>
          <a:prstGeom prst="ellipse">
            <a:avLst/>
          </a:prstGeom>
          <a:solidFill>
            <a:srgbClr val="1D7A4A"/>
          </a:solidFill>
          <a:ln w="12700">
            <a:solidFill>
              <a:srgbClr val="1D7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0376" y="1005840"/>
            <a:ext cx="658368" cy="65836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260336" y="190195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535"/>
                </a:solidFill>
              </a:rPr>
              <a:t>Kataloğa Ekle</a:t>
            </a:r>
            <a:endParaRPr lang="en-US" sz="1150" dirty="0"/>
          </a:p>
        </p:txBody>
      </p:sp>
      <p:sp>
        <p:nvSpPr>
          <p:cNvPr id="31" name="Text 24"/>
          <p:cNvSpPr/>
          <p:nvPr/>
        </p:nvSpPr>
        <p:spPr>
          <a:xfrm>
            <a:off x="7260336" y="21945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5E52"/>
                </a:solidFill>
              </a:rPr>
              <a:t>Bir tık —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E52"/>
                </a:solidFill>
              </a:rPr>
              <a:t>kitap sistemde</a:t>
            </a:r>
            <a:endParaRPr 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365760" y="2834640"/>
            <a:ext cx="841248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365760" y="2834640"/>
            <a:ext cx="8412480" cy="36576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50292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Satın Alma Önerisi</a:t>
            </a:r>
            <a:endParaRPr lang="en-US" sz="1200" dirty="0"/>
          </a:p>
        </p:txBody>
      </p:sp>
      <p:sp>
        <p:nvSpPr>
          <p:cNvPr id="35" name="Shape 28"/>
          <p:cNvSpPr/>
          <p:nvPr/>
        </p:nvSpPr>
        <p:spPr>
          <a:xfrm>
            <a:off x="640080" y="3310128"/>
            <a:ext cx="2468880" cy="1243584"/>
          </a:xfrm>
          <a:prstGeom prst="rect">
            <a:avLst/>
          </a:prstGeom>
          <a:solidFill>
            <a:srgbClr val="F0F4F8"/>
          </a:solidFill>
          <a:ln w="12700">
            <a:solidFill>
              <a:srgbClr val="DDD5C4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749808" y="3401568"/>
            <a:ext cx="224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535"/>
                </a:solidFill>
              </a:rPr>
              <a:t>Netum NT-1228BL</a:t>
            </a:r>
            <a:endParaRPr lang="en-US" sz="1150" dirty="0"/>
          </a:p>
        </p:txBody>
      </p:sp>
      <p:sp>
        <p:nvSpPr>
          <p:cNvPr id="37" name="Shape 30"/>
          <p:cNvSpPr/>
          <p:nvPr/>
        </p:nvSpPr>
        <p:spPr>
          <a:xfrm>
            <a:off x="749808" y="3712464"/>
            <a:ext cx="685800" cy="237744"/>
          </a:xfrm>
          <a:prstGeom prst="rect">
            <a:avLst/>
          </a:prstGeom>
          <a:solidFill>
            <a:srgbClr val="FDF3E3"/>
          </a:solidFill>
          <a:ln w="12700">
            <a:solidFill>
              <a:srgbClr val="F0D9AC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749808" y="3712464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17B2A"/>
                </a:solidFill>
              </a:rPr>
              <a:t>~350 ₺</a:t>
            </a:r>
            <a:endParaRPr lang="en-US" sz="1000" dirty="0"/>
          </a:p>
        </p:txBody>
      </p:sp>
      <p:sp>
        <p:nvSpPr>
          <p:cNvPr id="39" name="Text 32"/>
          <p:cNvSpPr/>
          <p:nvPr/>
        </p:nvSpPr>
        <p:spPr>
          <a:xfrm>
            <a:off x="749808" y="4005072"/>
            <a:ext cx="22494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E52"/>
                </a:solidFill>
              </a:rPr>
              <a:t>Bluetooth + USB · Başlangıç için ideal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3438144" y="3310128"/>
            <a:ext cx="2468880" cy="1243584"/>
          </a:xfrm>
          <a:prstGeom prst="rect">
            <a:avLst/>
          </a:prstGeom>
          <a:solidFill>
            <a:srgbClr val="F0F4F8"/>
          </a:solidFill>
          <a:ln w="12700">
            <a:solidFill>
              <a:srgbClr val="DDD5C4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3547872" y="3401568"/>
            <a:ext cx="224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535"/>
                </a:solidFill>
              </a:rPr>
              <a:t>Honeywell Voyager 1200g</a:t>
            </a:r>
            <a:endParaRPr lang="en-US" sz="1150" dirty="0"/>
          </a:p>
        </p:txBody>
      </p:sp>
      <p:sp>
        <p:nvSpPr>
          <p:cNvPr id="42" name="Shape 35"/>
          <p:cNvSpPr/>
          <p:nvPr/>
        </p:nvSpPr>
        <p:spPr>
          <a:xfrm>
            <a:off x="3547872" y="3712464"/>
            <a:ext cx="685800" cy="237744"/>
          </a:xfrm>
          <a:prstGeom prst="rect">
            <a:avLst/>
          </a:prstGeom>
          <a:solidFill>
            <a:srgbClr val="FDF3E3"/>
          </a:solidFill>
          <a:ln w="12700">
            <a:solidFill>
              <a:srgbClr val="F0D9AC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3547872" y="3712464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17B2A"/>
                </a:solidFill>
              </a:rPr>
              <a:t>~550 ₺</a:t>
            </a:r>
            <a:endParaRPr lang="en-US" sz="1000" dirty="0"/>
          </a:p>
        </p:txBody>
      </p:sp>
      <p:sp>
        <p:nvSpPr>
          <p:cNvPr id="44" name="Text 37"/>
          <p:cNvSpPr/>
          <p:nvPr/>
        </p:nvSpPr>
        <p:spPr>
          <a:xfrm>
            <a:off x="3547872" y="4005072"/>
            <a:ext cx="22494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E52"/>
                </a:solidFill>
              </a:rPr>
              <a:t>USB · Dayanıklı, uzun ömürlü</a:t>
            </a:r>
            <a:endParaRPr lang="en-US" sz="1000" dirty="0"/>
          </a:p>
        </p:txBody>
      </p:sp>
      <p:sp>
        <p:nvSpPr>
          <p:cNvPr id="45" name="Shape 38"/>
          <p:cNvSpPr/>
          <p:nvPr/>
        </p:nvSpPr>
        <p:spPr>
          <a:xfrm>
            <a:off x="6236208" y="3310128"/>
            <a:ext cx="2468880" cy="1243584"/>
          </a:xfrm>
          <a:prstGeom prst="rect">
            <a:avLst/>
          </a:prstGeom>
          <a:solidFill>
            <a:srgbClr val="F0F4F8"/>
          </a:solidFill>
          <a:ln w="12700">
            <a:solidFill>
              <a:srgbClr val="DDD5C4"/>
            </a:solidFill>
            <a:prstDash val="solid"/>
          </a:ln>
        </p:spPr>
      </p:sp>
      <p:sp>
        <p:nvSpPr>
          <p:cNvPr id="46" name="Text 39"/>
          <p:cNvSpPr/>
          <p:nvPr/>
        </p:nvSpPr>
        <p:spPr>
          <a:xfrm>
            <a:off x="6345936" y="3401568"/>
            <a:ext cx="224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535"/>
                </a:solidFill>
              </a:rPr>
              <a:t>Herhangi 1D USB okuyucu</a:t>
            </a:r>
            <a:endParaRPr lang="en-US" sz="1150" dirty="0"/>
          </a:p>
        </p:txBody>
      </p:sp>
      <p:sp>
        <p:nvSpPr>
          <p:cNvPr id="47" name="Shape 40"/>
          <p:cNvSpPr/>
          <p:nvPr/>
        </p:nvSpPr>
        <p:spPr>
          <a:xfrm>
            <a:off x="6345936" y="3712464"/>
            <a:ext cx="685800" cy="237744"/>
          </a:xfrm>
          <a:prstGeom prst="rect">
            <a:avLst/>
          </a:prstGeom>
          <a:solidFill>
            <a:srgbClr val="FDF3E3"/>
          </a:solidFill>
          <a:ln w="12700">
            <a:solidFill>
              <a:srgbClr val="F0D9AC"/>
            </a:solidFill>
            <a:prstDash val="solid"/>
          </a:ln>
        </p:spPr>
      </p:sp>
      <p:sp>
        <p:nvSpPr>
          <p:cNvPr id="48" name="Text 41"/>
          <p:cNvSpPr/>
          <p:nvPr/>
        </p:nvSpPr>
        <p:spPr>
          <a:xfrm>
            <a:off x="6345936" y="3712464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17B2A"/>
                </a:solidFill>
              </a:rPr>
              <a:t>300–600 ₺</a:t>
            </a:r>
            <a:endParaRPr lang="en-US" sz="1000" dirty="0"/>
          </a:p>
        </p:txBody>
      </p:sp>
      <p:sp>
        <p:nvSpPr>
          <p:cNvPr id="49" name="Text 42"/>
          <p:cNvSpPr/>
          <p:nvPr/>
        </p:nvSpPr>
        <p:spPr>
          <a:xfrm>
            <a:off x="6345936" y="4005072"/>
            <a:ext cx="22494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E52"/>
                </a:solidFill>
              </a:rPr>
              <a:t>Marka fark etmez · HID klavye modu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Kurulum Adımları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BAFD4"/>
                </a:solidFill>
              </a:rPr>
              <a:t>Birlikte yapacağız — tek başınıza bir şey yapmanıza gerek yok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676656"/>
          </a:xfrm>
          <a:prstGeom prst="rect">
            <a:avLst/>
          </a:prstGeom>
          <a:solidFill>
            <a:srgbClr val="1E2E44"/>
          </a:solidFill>
          <a:ln w="12700">
            <a:solidFill>
              <a:srgbClr val="2A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170432"/>
            <a:ext cx="420624" cy="420624"/>
          </a:xfrm>
          <a:prstGeom prst="ellipse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7043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60704" y="1197864"/>
            <a:ext cx="658368" cy="201168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1197864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Siz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82496" y="112471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GitHub hesabına giriş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82496" y="141732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B5D4"/>
                </a:solidFill>
              </a:rPr>
              <a:t>Mevcut hesabınızla github.com'a girin. Yeni repo oluşturun.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620256" y="1197864"/>
            <a:ext cx="1810512" cy="347472"/>
          </a:xfrm>
          <a:prstGeom prst="rect">
            <a:avLst/>
          </a:prstGeom>
          <a:solidFill>
            <a:srgbClr val="243552"/>
          </a:solidFill>
          <a:ln w="12700">
            <a:solidFill>
              <a:srgbClr val="2E4A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0256" y="1197864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BAFD4"/>
                </a:solidFill>
              </a:rPr>
              <a:t>⏱ 5 dk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1819656"/>
            <a:ext cx="8412480" cy="676656"/>
          </a:xfrm>
          <a:prstGeom prst="rect">
            <a:avLst/>
          </a:prstGeom>
          <a:solidFill>
            <a:srgbClr val="1E2E44"/>
          </a:solidFill>
          <a:ln w="12700">
            <a:solidFill>
              <a:srgbClr val="2A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1938528"/>
            <a:ext cx="420624" cy="420624"/>
          </a:xfrm>
          <a:prstGeom prst="ellipse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193852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60704" y="1965960"/>
            <a:ext cx="658368" cy="201168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0704" y="1965960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Ben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682496" y="189280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Kodu yazıp yüklüyorum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682496" y="218541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B5D4"/>
                </a:solidFill>
              </a:rPr>
              <a:t>Tüm HTML, CSS, JS kodlarını repo'ya yüklerim.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620256" y="1965960"/>
            <a:ext cx="1810512" cy="347472"/>
          </a:xfrm>
          <a:prstGeom prst="rect">
            <a:avLst/>
          </a:prstGeom>
          <a:solidFill>
            <a:srgbClr val="243552"/>
          </a:solidFill>
          <a:ln w="12700">
            <a:solidFill>
              <a:srgbClr val="2E4A7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0256" y="1965960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BAFD4"/>
                </a:solidFill>
              </a:rPr>
              <a:t>⏱ 30 dk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2587752"/>
            <a:ext cx="8412480" cy="676656"/>
          </a:xfrm>
          <a:prstGeom prst="rect">
            <a:avLst/>
          </a:prstGeom>
          <a:solidFill>
            <a:srgbClr val="1E2E44"/>
          </a:solidFill>
          <a:ln w="12700">
            <a:solidFill>
              <a:srgbClr val="2A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2920" y="2706624"/>
            <a:ext cx="420624" cy="420624"/>
          </a:xfrm>
          <a:prstGeom prst="ellipse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270662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060704" y="2734056"/>
            <a:ext cx="658368" cy="201168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60704" y="273405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Siz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682496" y="266090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GitHub Pages aktif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682496" y="2953512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B5D4"/>
                </a:solidFill>
              </a:rPr>
              <a:t>Repo ayarlarından Pages'ı açın. Adres hazır: isim.github.io/kutuphane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620256" y="2734056"/>
            <a:ext cx="1810512" cy="347472"/>
          </a:xfrm>
          <a:prstGeom prst="rect">
            <a:avLst/>
          </a:prstGeom>
          <a:solidFill>
            <a:srgbClr val="243552"/>
          </a:solidFill>
          <a:ln w="12700">
            <a:solidFill>
              <a:srgbClr val="2E4A7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20256" y="2734056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BAFD4"/>
                </a:solidFill>
              </a:rPr>
              <a:t>⏱ 5 dk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3355848"/>
            <a:ext cx="8412480" cy="676656"/>
          </a:xfrm>
          <a:prstGeom prst="rect">
            <a:avLst/>
          </a:prstGeom>
          <a:solidFill>
            <a:srgbClr val="1E2E44"/>
          </a:solidFill>
          <a:ln w="12700">
            <a:solidFill>
              <a:srgbClr val="2A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02920" y="3474720"/>
            <a:ext cx="420624" cy="420624"/>
          </a:xfrm>
          <a:prstGeom prst="ellipse">
            <a:avLst/>
          </a:prstGeom>
          <a:solidFill>
            <a:srgbClr val="1D7A4A"/>
          </a:solidFill>
          <a:ln w="12700">
            <a:solidFill>
              <a:srgbClr val="1D7A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347472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1060704" y="3502152"/>
            <a:ext cx="658368" cy="201168"/>
          </a:xfrm>
          <a:prstGeom prst="rect">
            <a:avLst/>
          </a:prstGeom>
          <a:solidFill>
            <a:srgbClr val="1D7A4A"/>
          </a:solidFill>
          <a:ln w="12700">
            <a:solidFill>
              <a:srgbClr val="1D7A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60704" y="350215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Birlikte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682496" y="34290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Google API anahtarı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682496" y="372160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B5D4"/>
                </a:solidFill>
              </a:rPr>
              <a:t>Google Cloud Console'dan ücretsiz anahtar alınır, sisteme eklenir.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620256" y="3502152"/>
            <a:ext cx="1810512" cy="347472"/>
          </a:xfrm>
          <a:prstGeom prst="rect">
            <a:avLst/>
          </a:prstGeom>
          <a:solidFill>
            <a:srgbClr val="243552"/>
          </a:solidFill>
          <a:ln w="12700">
            <a:solidFill>
              <a:srgbClr val="2E4A7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20256" y="3502152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BAFD4"/>
                </a:solidFill>
              </a:rPr>
              <a:t>⏱ 10 dk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65760" y="4123944"/>
            <a:ext cx="8412480" cy="676656"/>
          </a:xfrm>
          <a:prstGeom prst="rect">
            <a:avLst/>
          </a:prstGeom>
          <a:solidFill>
            <a:srgbClr val="1E2E44"/>
          </a:solidFill>
          <a:ln w="12700">
            <a:solidFill>
              <a:srgbClr val="2A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02920" y="4242816"/>
            <a:ext cx="420624" cy="420624"/>
          </a:xfrm>
          <a:prstGeom prst="ellipse">
            <a:avLst/>
          </a:prstGeom>
          <a:solidFill>
            <a:srgbClr val="C17B2A"/>
          </a:solidFill>
          <a:ln w="12700">
            <a:solidFill>
              <a:srgbClr val="C17B2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424281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1060704" y="4270248"/>
            <a:ext cx="658368" cy="201168"/>
          </a:xfrm>
          <a:prstGeom prst="rect">
            <a:avLst/>
          </a:prstGeom>
          <a:solidFill>
            <a:srgbClr val="C17B2A"/>
          </a:solidFill>
          <a:ln w="12700">
            <a:solidFill>
              <a:srgbClr val="C17B2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60704" y="4270248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Siz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682496" y="4197096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Barkod okuyucu bağla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1682496" y="4489704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B5D4"/>
                </a:solidFill>
              </a:rPr>
              <a:t>USB'ye tak, ISBN alanına tıkla, okut. Sistem hemen tanır.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620256" y="4270248"/>
            <a:ext cx="1810512" cy="347472"/>
          </a:xfrm>
          <a:prstGeom prst="rect">
            <a:avLst/>
          </a:prstGeom>
          <a:solidFill>
            <a:srgbClr val="243552"/>
          </a:solidFill>
          <a:ln w="12700">
            <a:solidFill>
              <a:srgbClr val="2E4A7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20256" y="4270248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BAFD4"/>
                </a:solidFill>
              </a:rPr>
              <a:t>⏱ Barkod gelince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Maliyet Özeti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1993392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1993392" cy="64008"/>
          </a:xfrm>
          <a:prstGeom prst="rect">
            <a:avLst/>
          </a:prstGeom>
          <a:solidFill>
            <a:srgbClr val="1D7A4A"/>
          </a:solidFill>
          <a:ln w="12700">
            <a:solidFill>
              <a:srgbClr val="1D7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19933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D7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₺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20040" y="1600200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535"/>
                </a:solidFill>
              </a:rPr>
              <a:t>Aylık Sunucu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883664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E52"/>
                </a:solidFill>
              </a:rPr>
              <a:t>GitHub Pages ücretsiz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868680"/>
            <a:ext cx="1993392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868680"/>
            <a:ext cx="1993392" cy="64008"/>
          </a:xfrm>
          <a:prstGeom prst="rect">
            <a:avLst/>
          </a:prstGeom>
          <a:solidFill>
            <a:srgbClr val="1D7A4A"/>
          </a:solidFill>
          <a:ln w="12700">
            <a:solidFill>
              <a:srgbClr val="1D7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1005840"/>
            <a:ext cx="19933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D7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₺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468880" y="1600200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535"/>
                </a:solidFill>
              </a:rPr>
              <a:t>Yazılım Lisansı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68880" y="1883664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E52"/>
                </a:solidFill>
              </a:rPr>
              <a:t>Açık kaynak, ücretsiz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17720" y="868680"/>
            <a:ext cx="1993392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17720" y="868680"/>
            <a:ext cx="1993392" cy="64008"/>
          </a:xfrm>
          <a:prstGeom prst="rect">
            <a:avLst/>
          </a:prstGeom>
          <a:solidFill>
            <a:srgbClr val="C17B2A"/>
          </a:solidFill>
          <a:ln w="12700">
            <a:solidFill>
              <a:srgbClr val="C17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1005840"/>
            <a:ext cx="19933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17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300–600 ₺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617720" y="1600200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535"/>
                </a:solidFill>
              </a:rPr>
              <a:t>Barkod Okuyucu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17720" y="1883664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E52"/>
                </a:solidFill>
              </a:rPr>
              <a:t>Tek seferlik alım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66560" y="868680"/>
            <a:ext cx="1993392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66560" y="868680"/>
            <a:ext cx="1993392" cy="64008"/>
          </a:xfrm>
          <a:prstGeom prst="rect">
            <a:avLst/>
          </a:prstGeom>
          <a:solidFill>
            <a:srgbClr val="1D7A4A"/>
          </a:solidFill>
          <a:ln w="12700">
            <a:solidFill>
              <a:srgbClr val="1D7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1005840"/>
            <a:ext cx="19933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D7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₺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766560" y="1600200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535"/>
                </a:solidFill>
              </a:rPr>
              <a:t>Güncelleme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66560" y="1883664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E52"/>
                </a:solidFill>
              </a:rPr>
              <a:t>Her yeni özellik ücretsiz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2487168"/>
            <a:ext cx="8412480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2487168"/>
            <a:ext cx="841248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24871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Bu sistemin maliyeti vs. alternatifleri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29443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5E52"/>
                </a:solidFill>
              </a:rPr>
              <a:t>Sistem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840480" y="29443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5E52"/>
                </a:solidFill>
              </a:rPr>
              <a:t>Aylık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394960" y="29443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5E52"/>
                </a:solidFill>
              </a:rPr>
              <a:t>Yıllık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949440" y="294436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5E52"/>
                </a:solidFill>
              </a:rPr>
              <a:t>Tek seferlik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84048" y="3236976"/>
            <a:ext cx="8357616" cy="438912"/>
          </a:xfrm>
          <a:prstGeom prst="rect">
            <a:avLst/>
          </a:prstGeom>
          <a:solidFill>
            <a:srgbClr val="EAF5EF"/>
          </a:solidFill>
          <a:ln w="12700">
            <a:solidFill>
              <a:srgbClr val="C4E0C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32735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7A4A"/>
                </a:solidFill>
              </a:rPr>
              <a:t>★ Bu sistem (GitHub Pages)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840480" y="327355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D7A4A"/>
                </a:solidFill>
              </a:rPr>
              <a:t>0 ₺/ay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394960" y="327355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D7A4A"/>
                </a:solidFill>
              </a:rPr>
              <a:t>0 ₺/yıl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949440" y="327355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17B2A"/>
                </a:solidFill>
              </a:rPr>
              <a:t>300–600 ₺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48640" y="37490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535"/>
                </a:solidFill>
              </a:rPr>
              <a:t>Hazır kütüphane yazılımı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3840480" y="374904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5E52"/>
                </a:solidFill>
              </a:rPr>
              <a:t>500–1500 ₺/ay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394960" y="374904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5E52"/>
                </a:solidFill>
              </a:rPr>
              <a:t>6.000–18.000 ₺/yıl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949440" y="374904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5E52"/>
                </a:solidFill>
              </a:rPr>
              <a:t>+ Kurulum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48640" y="422452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535"/>
                </a:solidFill>
              </a:rPr>
              <a:t>VPS sunucu kiralama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3840480" y="422452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5E52"/>
                </a:solidFill>
              </a:rPr>
              <a:t>200–400 ₺/ay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394960" y="422452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5E52"/>
                </a:solidFill>
              </a:rPr>
              <a:t>2.400–4.800 ₺/yıl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6949440" y="422452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5E52"/>
                </a:solidFill>
              </a:rPr>
              <a:t>Geliştirme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1645920"/>
            <a:ext cx="4572000" cy="45720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-914400"/>
            <a:ext cx="3657600" cy="36576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9040" y="640080"/>
            <a:ext cx="1371600" cy="1371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920240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Hazır Olduğunuzda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Başlayalım</a:t>
            </a:r>
            <a:endParaRPr lang="en-US" sz="38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3520440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395728" y="3502152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B5D4"/>
                </a:solidFill>
              </a:rPr>
              <a:t>GitHub hesabınız yeterli — başka hesap gerekmez</a:t>
            </a:r>
            <a:endParaRPr lang="en-US" sz="12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3867912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395728" y="3849624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B5D4"/>
                </a:solidFill>
              </a:rPr>
              <a:t>Yalnızca barkod okuyucu alınacak — geri her şey ücretsiz</a:t>
            </a:r>
            <a:endParaRPr lang="en-US" sz="12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0" y="4215384"/>
            <a:ext cx="274320" cy="2743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2395728" y="4197096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B5D4"/>
                </a:solidFill>
              </a:rPr>
              <a:t>Kurulumu birlikte yapacağız, siz sadece onaylayacaksınız</a:t>
            </a:r>
            <a:endParaRPr lang="en-US" sz="1200" dirty="0"/>
          </a:p>
        </p:txBody>
      </p:sp>
      <p:sp>
        <p:nvSpPr>
          <p:cNvPr id="13" name="Shape 7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457200" y="4645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7BAFD4"/>
                </a:solidFill>
              </a:rPr>
              <a:t>Okul Kütüphanesi Dijital Sistemi  ·  Teknik Brifing  ·  Mart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Okul Kütüphanesi — Teknik Altyapı ve Gereksinimler</dc:title>
  <dc:subject>PptxGenJS Presentation</dc:subject>
  <dc:creator>PptxGenJS</dc:creator>
  <cp:lastModifiedBy>PptxGenJS</cp:lastModifiedBy>
  <cp:revision>1</cp:revision>
  <dcterms:created xsi:type="dcterms:W3CDTF">2026-03-23T10:49:49Z</dcterms:created>
  <dcterms:modified xsi:type="dcterms:W3CDTF">2026-03-23T10:49:49Z</dcterms:modified>
</cp:coreProperties>
</file>